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Montserrat" panose="00000500000000000000" pitchFamily="2" charset="0"/>
      <p:regular r:id="rId5"/>
      <p:bold r:id="rId6"/>
      <p:italic r:id="rId7"/>
      <p:boldItalic r:id="rId8"/>
    </p:embeddedFont>
    <p:embeddedFont>
      <p:font typeface="Montserrat Bold" panose="00000800000000000000" pitchFamily="2" charset="0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ANU1111/TWT_new1/tree/main/Demo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430427" y="201526"/>
            <a:ext cx="16481570" cy="1626106"/>
            <a:chOff x="-50307" y="168121"/>
            <a:chExt cx="712263" cy="279894"/>
          </a:xfrm>
        </p:grpSpPr>
        <p:sp>
          <p:nvSpPr>
            <p:cNvPr id="10" name="Freeform 10"/>
            <p:cNvSpPr/>
            <p:nvPr/>
          </p:nvSpPr>
          <p:spPr>
            <a:xfrm>
              <a:off x="-10384" y="180192"/>
              <a:ext cx="641844" cy="251706"/>
            </a:xfrm>
            <a:custGeom>
              <a:avLst/>
              <a:gdLst/>
              <a:ahLst/>
              <a:cxnLst/>
              <a:rect l="l" t="t" r="r" b="b"/>
              <a:pathLst>
                <a:path w="641844" h="207342">
                  <a:moveTo>
                    <a:pt x="95305" y="0"/>
                  </a:moveTo>
                  <a:lnTo>
                    <a:pt x="546539" y="0"/>
                  </a:lnTo>
                  <a:cubicBezTo>
                    <a:pt x="571815" y="0"/>
                    <a:pt x="596056" y="10041"/>
                    <a:pt x="613929" y="27914"/>
                  </a:cubicBezTo>
                  <a:cubicBezTo>
                    <a:pt x="631803" y="45787"/>
                    <a:pt x="641844" y="70028"/>
                    <a:pt x="641844" y="95305"/>
                  </a:cubicBezTo>
                  <a:lnTo>
                    <a:pt x="641844" y="112037"/>
                  </a:lnTo>
                  <a:cubicBezTo>
                    <a:pt x="641844" y="164673"/>
                    <a:pt x="599174" y="207342"/>
                    <a:pt x="546539" y="207342"/>
                  </a:cubicBezTo>
                  <a:lnTo>
                    <a:pt x="95305" y="207342"/>
                  </a:lnTo>
                  <a:cubicBezTo>
                    <a:pt x="42669" y="207342"/>
                    <a:pt x="0" y="164673"/>
                    <a:pt x="0" y="112037"/>
                  </a:cubicBezTo>
                  <a:lnTo>
                    <a:pt x="0" y="95305"/>
                  </a:lnTo>
                  <a:cubicBezTo>
                    <a:pt x="0" y="42669"/>
                    <a:pt x="42669" y="0"/>
                    <a:pt x="95305" y="0"/>
                  </a:cubicBezTo>
                  <a:close/>
                </a:path>
              </a:pathLst>
            </a:custGeom>
            <a:solidFill>
              <a:srgbClr val="B4E1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50307" y="168121"/>
              <a:ext cx="712263" cy="279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lvl="0" algn="ctr"/>
              <a:r>
                <a:rPr lang="en-US" sz="4800" b="1" dirty="0">
                  <a:latin typeface="Montserrat Bold"/>
                  <a:ea typeface="Montserrat Bold"/>
                  <a:cs typeface="Montserrat Bold"/>
                  <a:sym typeface="Montserrat Bold"/>
                </a:rPr>
                <a:t>Project: AI-Assist Document Quality checker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76808" y="2234572"/>
            <a:ext cx="462882" cy="462882"/>
            <a:chOff x="0" y="0"/>
            <a:chExt cx="673100" cy="673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20492" y="1547489"/>
            <a:ext cx="11297570" cy="8309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600"/>
              </a:spcAft>
              <a:defRPr sz="1800" b="1">
                <a:latin typeface="Calibri"/>
              </a:defRPr>
            </a:pPr>
            <a:endParaRPr lang="en-US" sz="2000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  <a:defRPr sz="1800" b="1">
                <a:latin typeface="Calibri"/>
              </a:defRPr>
            </a:pPr>
            <a:r>
              <a:rPr lang="en-US" sz="3600" dirty="0"/>
              <a:t>Problem</a:t>
            </a:r>
          </a:p>
          <a:p>
            <a:pPr>
              <a:spcAft>
                <a:spcPts val="600"/>
              </a:spcAft>
              <a:defRPr sz="1800" b="0">
                <a:latin typeface="Calibri"/>
              </a:defRPr>
            </a:pPr>
            <a:r>
              <a:rPr lang="en-US" sz="2800" dirty="0"/>
              <a:t>Manual document reviews are repetitive, time-consuming, and prone to errors.</a:t>
            </a:r>
            <a:br>
              <a:rPr lang="en-US" sz="2800" dirty="0"/>
            </a:br>
            <a:r>
              <a:rPr lang="en-US" sz="2800" dirty="0"/>
              <a:t>Common issues: heading hierarchy, captions, formatting, numbering, TODOs, terminology.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  <a:defRPr sz="1800" b="1">
                <a:latin typeface="Calibri"/>
              </a:defRPr>
            </a:pPr>
            <a:r>
              <a:rPr lang="en-US" sz="3600" dirty="0"/>
              <a:t>Who it affects</a:t>
            </a:r>
          </a:p>
          <a:p>
            <a:pPr>
              <a:spcAft>
                <a:spcPts val="600"/>
              </a:spcAft>
              <a:defRPr sz="1800" b="0">
                <a:latin typeface="Calibri"/>
              </a:defRPr>
            </a:pPr>
            <a:r>
              <a:rPr lang="en-US" sz="2800" dirty="0"/>
              <a:t>Technical Writers  </a:t>
            </a:r>
          </a:p>
          <a:p>
            <a:pPr>
              <a:spcAft>
                <a:spcPts val="600"/>
              </a:spcAft>
              <a:defRPr sz="1800" b="0">
                <a:latin typeface="Calibri"/>
              </a:defRPr>
            </a:pPr>
            <a:r>
              <a:rPr lang="en-US" sz="2800" dirty="0"/>
              <a:t>Documentation Engineers </a:t>
            </a:r>
          </a:p>
          <a:p>
            <a:pPr>
              <a:spcAft>
                <a:spcPts val="600"/>
              </a:spcAft>
              <a:defRPr sz="1800" b="0">
                <a:latin typeface="Calibri"/>
              </a:defRPr>
            </a:pPr>
            <a:r>
              <a:rPr lang="en-US" sz="2800" dirty="0"/>
              <a:t>Reviewers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  <a:defRPr sz="1800" b="1">
                <a:latin typeface="Calibri"/>
              </a:defRPr>
            </a:pPr>
            <a:r>
              <a:rPr lang="en-US" sz="3600" dirty="0"/>
              <a:t>Input</a:t>
            </a:r>
          </a:p>
          <a:p>
            <a:pPr>
              <a:spcAft>
                <a:spcPts val="600"/>
              </a:spcAft>
              <a:defRPr sz="1800" b="0">
                <a:latin typeface="Calibri"/>
              </a:defRPr>
            </a:pPr>
            <a:r>
              <a:rPr lang="en-US" sz="2800" dirty="0"/>
              <a:t>Microsoft Word (.docx) technical document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  <a:defRPr sz="1800" b="1">
                <a:latin typeface="Calibri"/>
              </a:defRPr>
            </a:pPr>
            <a:r>
              <a:rPr lang="en-US" sz="3600" dirty="0"/>
              <a:t>Output</a:t>
            </a:r>
          </a:p>
          <a:p>
            <a:pPr>
              <a:spcAft>
                <a:spcPts val="600"/>
              </a:spcAft>
              <a:defRPr sz="1800" b="0">
                <a:latin typeface="Calibri"/>
              </a:defRPr>
            </a:pPr>
            <a:r>
              <a:rPr lang="en-US" sz="2800" dirty="0"/>
              <a:t>HTML quality report with actionable recommendations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  <a:defRPr sz="1800" b="1">
                <a:latin typeface="Calibri"/>
              </a:defRPr>
            </a:pPr>
            <a:r>
              <a:rPr lang="en-US" sz="3600" dirty="0"/>
              <a:t>Success</a:t>
            </a:r>
          </a:p>
          <a:p>
            <a:pPr>
              <a:spcAft>
                <a:spcPts val="600"/>
              </a:spcAft>
              <a:defRPr sz="1800" b="0">
                <a:latin typeface="Calibri"/>
              </a:defRPr>
            </a:pPr>
            <a:r>
              <a:rPr lang="en-US" sz="2800" dirty="0"/>
              <a:t>Reduce manual review effort with consistent automated pre-review.</a:t>
            </a:r>
            <a:endParaRPr lang="en-US" sz="2800" spc="-65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6710167" y="432293"/>
            <a:ext cx="462882" cy="462882"/>
            <a:chOff x="0" y="0"/>
            <a:chExt cx="673100" cy="6731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1" name="TextBox 11">
            <a:extLst>
              <a:ext uri="{FF2B5EF4-FFF2-40B4-BE49-F238E27FC236}">
                <a16:creationId xmlns:a16="http://schemas.microsoft.com/office/drawing/2014/main" id="{6864C998-5220-53CA-5DCB-E788B6760CDD}"/>
              </a:ext>
            </a:extLst>
          </p:cNvPr>
          <p:cNvSpPr txBox="1"/>
          <p:nvPr/>
        </p:nvSpPr>
        <p:spPr>
          <a:xfrm>
            <a:off x="2124011" y="1384183"/>
            <a:ext cx="2437000" cy="931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560"/>
              </a:lnSpc>
            </a:pPr>
            <a:endParaRPr lang="en-US" sz="1828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7571C188-7A07-B732-4BE1-D2E10B97BCA3}"/>
              </a:ext>
            </a:extLst>
          </p:cNvPr>
          <p:cNvSpPr txBox="1"/>
          <p:nvPr/>
        </p:nvSpPr>
        <p:spPr>
          <a:xfrm>
            <a:off x="481601" y="8822832"/>
            <a:ext cx="338891" cy="34993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lvl="0" algn="ctr">
              <a:lnSpc>
                <a:spcPts val="2940"/>
              </a:lnSpc>
            </a:pPr>
            <a:endParaRPr sz="200" dirty="0"/>
          </a:p>
        </p:txBody>
      </p:sp>
      <p:grpSp>
        <p:nvGrpSpPr>
          <p:cNvPr id="27" name="Group 3">
            <a:extLst>
              <a:ext uri="{FF2B5EF4-FFF2-40B4-BE49-F238E27FC236}">
                <a16:creationId xmlns:a16="http://schemas.microsoft.com/office/drawing/2014/main" id="{08FABCAF-C810-84A3-A897-281E9E60E42B}"/>
              </a:ext>
            </a:extLst>
          </p:cNvPr>
          <p:cNvGrpSpPr/>
          <p:nvPr/>
        </p:nvGrpSpPr>
        <p:grpSpPr>
          <a:xfrm>
            <a:off x="795761" y="675765"/>
            <a:ext cx="147655" cy="627698"/>
            <a:chOff x="0" y="0"/>
            <a:chExt cx="38889" cy="165320"/>
          </a:xfrm>
        </p:grpSpPr>
        <p:sp>
          <p:nvSpPr>
            <p:cNvPr id="28" name="Freeform 4">
              <a:extLst>
                <a:ext uri="{FF2B5EF4-FFF2-40B4-BE49-F238E27FC236}">
                  <a16:creationId xmlns:a16="http://schemas.microsoft.com/office/drawing/2014/main" id="{A9312E8E-2B4A-0BD1-F491-F31C477ACD12}"/>
                </a:ext>
              </a:extLst>
            </p:cNvPr>
            <p:cNvSpPr/>
            <p:nvPr/>
          </p:nvSpPr>
          <p:spPr>
            <a:xfrm>
              <a:off x="0" y="0"/>
              <a:ext cx="38889" cy="165320"/>
            </a:xfrm>
            <a:custGeom>
              <a:avLst/>
              <a:gdLst/>
              <a:ahLst/>
              <a:cxnLst/>
              <a:rect l="l" t="t" r="r" b="b"/>
              <a:pathLst>
                <a:path w="38889" h="165320">
                  <a:moveTo>
                    <a:pt x="19444" y="0"/>
                  </a:moveTo>
                  <a:lnTo>
                    <a:pt x="19444" y="0"/>
                  </a:lnTo>
                  <a:cubicBezTo>
                    <a:pt x="24601" y="0"/>
                    <a:pt x="29547" y="2049"/>
                    <a:pt x="33194" y="5695"/>
                  </a:cubicBezTo>
                  <a:cubicBezTo>
                    <a:pt x="36840" y="9342"/>
                    <a:pt x="38889" y="14287"/>
                    <a:pt x="38889" y="19444"/>
                  </a:cubicBezTo>
                  <a:lnTo>
                    <a:pt x="38889" y="145875"/>
                  </a:lnTo>
                  <a:cubicBezTo>
                    <a:pt x="38889" y="156614"/>
                    <a:pt x="30183" y="165320"/>
                    <a:pt x="19444" y="165320"/>
                  </a:cubicBezTo>
                  <a:lnTo>
                    <a:pt x="19444" y="165320"/>
                  </a:lnTo>
                  <a:cubicBezTo>
                    <a:pt x="8706" y="165320"/>
                    <a:pt x="0" y="156614"/>
                    <a:pt x="0" y="145875"/>
                  </a:cubicBezTo>
                  <a:lnTo>
                    <a:pt x="0" y="19444"/>
                  </a:lnTo>
                  <a:cubicBezTo>
                    <a:pt x="0" y="8706"/>
                    <a:pt x="8706" y="0"/>
                    <a:pt x="19444" y="0"/>
                  </a:cubicBezTo>
                  <a:close/>
                </a:path>
              </a:pathLst>
            </a:custGeom>
            <a:solidFill>
              <a:srgbClr val="B4E1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5">
              <a:extLst>
                <a:ext uri="{FF2B5EF4-FFF2-40B4-BE49-F238E27FC236}">
                  <a16:creationId xmlns:a16="http://schemas.microsoft.com/office/drawing/2014/main" id="{2132315E-D831-03AF-0B2A-13A8985B61C0}"/>
                </a:ext>
              </a:extLst>
            </p:cNvPr>
            <p:cNvSpPr txBox="1"/>
            <p:nvPr/>
          </p:nvSpPr>
          <p:spPr>
            <a:xfrm>
              <a:off x="0" y="-95250"/>
              <a:ext cx="38889" cy="26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95761" y="675765"/>
            <a:ext cx="147655" cy="627698"/>
            <a:chOff x="0" y="0"/>
            <a:chExt cx="38889" cy="1653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889" cy="165320"/>
            </a:xfrm>
            <a:custGeom>
              <a:avLst/>
              <a:gdLst/>
              <a:ahLst/>
              <a:cxnLst/>
              <a:rect l="l" t="t" r="r" b="b"/>
              <a:pathLst>
                <a:path w="38889" h="165320">
                  <a:moveTo>
                    <a:pt x="19444" y="0"/>
                  </a:moveTo>
                  <a:lnTo>
                    <a:pt x="19444" y="0"/>
                  </a:lnTo>
                  <a:cubicBezTo>
                    <a:pt x="24601" y="0"/>
                    <a:pt x="29547" y="2049"/>
                    <a:pt x="33194" y="5695"/>
                  </a:cubicBezTo>
                  <a:cubicBezTo>
                    <a:pt x="36840" y="9342"/>
                    <a:pt x="38889" y="14287"/>
                    <a:pt x="38889" y="19444"/>
                  </a:cubicBezTo>
                  <a:lnTo>
                    <a:pt x="38889" y="145875"/>
                  </a:lnTo>
                  <a:cubicBezTo>
                    <a:pt x="38889" y="156614"/>
                    <a:pt x="30183" y="165320"/>
                    <a:pt x="19444" y="165320"/>
                  </a:cubicBezTo>
                  <a:lnTo>
                    <a:pt x="19444" y="165320"/>
                  </a:lnTo>
                  <a:cubicBezTo>
                    <a:pt x="8706" y="165320"/>
                    <a:pt x="0" y="156614"/>
                    <a:pt x="0" y="145875"/>
                  </a:cubicBezTo>
                  <a:lnTo>
                    <a:pt x="0" y="19444"/>
                  </a:lnTo>
                  <a:cubicBezTo>
                    <a:pt x="0" y="8706"/>
                    <a:pt x="8706" y="0"/>
                    <a:pt x="19444" y="0"/>
                  </a:cubicBezTo>
                  <a:close/>
                </a:path>
              </a:pathLst>
            </a:custGeom>
            <a:solidFill>
              <a:srgbClr val="B4E1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38889" cy="26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0" y="5578105"/>
            <a:ext cx="7613208" cy="3386493"/>
            <a:chOff x="0" y="0"/>
            <a:chExt cx="1179485" cy="5246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79485" cy="524656"/>
            </a:xfrm>
            <a:custGeom>
              <a:avLst/>
              <a:gdLst/>
              <a:ahLst/>
              <a:cxnLst/>
              <a:rect l="l" t="t" r="r" b="b"/>
              <a:pathLst>
                <a:path w="1179485" h="524656">
                  <a:moveTo>
                    <a:pt x="41693" y="0"/>
                  </a:moveTo>
                  <a:lnTo>
                    <a:pt x="1137792" y="0"/>
                  </a:lnTo>
                  <a:cubicBezTo>
                    <a:pt x="1160818" y="0"/>
                    <a:pt x="1179485" y="18667"/>
                    <a:pt x="1179485" y="41693"/>
                  </a:cubicBezTo>
                  <a:lnTo>
                    <a:pt x="1179485" y="482963"/>
                  </a:lnTo>
                  <a:cubicBezTo>
                    <a:pt x="1179485" y="505990"/>
                    <a:pt x="1160818" y="524656"/>
                    <a:pt x="1137792" y="524656"/>
                  </a:cubicBezTo>
                  <a:lnTo>
                    <a:pt x="41693" y="524656"/>
                  </a:lnTo>
                  <a:cubicBezTo>
                    <a:pt x="18667" y="524656"/>
                    <a:pt x="0" y="505990"/>
                    <a:pt x="0" y="482963"/>
                  </a:cubicBezTo>
                  <a:lnTo>
                    <a:pt x="0" y="41693"/>
                  </a:lnTo>
                  <a:cubicBezTo>
                    <a:pt x="0" y="18667"/>
                    <a:pt x="18667" y="0"/>
                    <a:pt x="41693" y="0"/>
                  </a:cubicBezTo>
                  <a:close/>
                </a:path>
              </a:pathLst>
            </a:custGeom>
            <a:blipFill>
              <a:blip r:embed="rId2"/>
              <a:stretch>
                <a:fillRect t="-722" b="-72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887200" y="7581900"/>
            <a:ext cx="2437000" cy="787252"/>
            <a:chOff x="0" y="-47625"/>
            <a:chExt cx="641844" cy="25496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1844" cy="207342"/>
            </a:xfrm>
            <a:custGeom>
              <a:avLst/>
              <a:gdLst/>
              <a:ahLst/>
              <a:cxnLst/>
              <a:rect l="l" t="t" r="r" b="b"/>
              <a:pathLst>
                <a:path w="641844" h="207342">
                  <a:moveTo>
                    <a:pt x="95305" y="0"/>
                  </a:moveTo>
                  <a:lnTo>
                    <a:pt x="546539" y="0"/>
                  </a:lnTo>
                  <a:cubicBezTo>
                    <a:pt x="571815" y="0"/>
                    <a:pt x="596056" y="10041"/>
                    <a:pt x="613929" y="27914"/>
                  </a:cubicBezTo>
                  <a:cubicBezTo>
                    <a:pt x="631803" y="45787"/>
                    <a:pt x="641844" y="70028"/>
                    <a:pt x="641844" y="95305"/>
                  </a:cubicBezTo>
                  <a:lnTo>
                    <a:pt x="641844" y="112037"/>
                  </a:lnTo>
                  <a:cubicBezTo>
                    <a:pt x="641844" y="164673"/>
                    <a:pt x="599174" y="207342"/>
                    <a:pt x="546539" y="207342"/>
                  </a:cubicBezTo>
                  <a:lnTo>
                    <a:pt x="95305" y="207342"/>
                  </a:lnTo>
                  <a:cubicBezTo>
                    <a:pt x="42669" y="207342"/>
                    <a:pt x="0" y="164673"/>
                    <a:pt x="0" y="112037"/>
                  </a:cubicBezTo>
                  <a:lnTo>
                    <a:pt x="0" y="95305"/>
                  </a:lnTo>
                  <a:cubicBezTo>
                    <a:pt x="0" y="42669"/>
                    <a:pt x="42669" y="0"/>
                    <a:pt x="95305" y="0"/>
                  </a:cubicBezTo>
                  <a:close/>
                </a:path>
              </a:pathLst>
            </a:custGeom>
            <a:solidFill>
              <a:srgbClr val="B4E1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641844" cy="254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7"/>
                </a:lnSpc>
              </a:pPr>
              <a:r>
                <a:rPr lang="en-US" sz="2298" b="1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  <a:hlinkClick r:id="rId3"/>
                </a:rPr>
                <a:t>Demo Link</a:t>
              </a:r>
              <a:endParaRPr lang="en-US" sz="229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027175" y="6039227"/>
            <a:ext cx="1232125" cy="123212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61686" y="2601491"/>
            <a:ext cx="16097614" cy="233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77"/>
              </a:lnSpc>
            </a:pPr>
            <a:r>
              <a:rPr lang="en-US" sz="19292" b="1" spc="-1292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 Video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47411" y="5617043"/>
            <a:ext cx="6823854" cy="758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12"/>
              </a:lnSpc>
            </a:pPr>
            <a:r>
              <a:rPr lang="en-US" sz="2299" spc="-82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Watch proof-of-concept in action. A 2-minute demo showing real input producing real output.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95761" y="675765"/>
            <a:ext cx="147655" cy="627698"/>
            <a:chOff x="0" y="0"/>
            <a:chExt cx="38889" cy="1653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889" cy="165320"/>
            </a:xfrm>
            <a:custGeom>
              <a:avLst/>
              <a:gdLst/>
              <a:ahLst/>
              <a:cxnLst/>
              <a:rect l="l" t="t" r="r" b="b"/>
              <a:pathLst>
                <a:path w="38889" h="165320">
                  <a:moveTo>
                    <a:pt x="19444" y="0"/>
                  </a:moveTo>
                  <a:lnTo>
                    <a:pt x="19444" y="0"/>
                  </a:lnTo>
                  <a:cubicBezTo>
                    <a:pt x="24601" y="0"/>
                    <a:pt x="29547" y="2049"/>
                    <a:pt x="33194" y="5695"/>
                  </a:cubicBezTo>
                  <a:cubicBezTo>
                    <a:pt x="36840" y="9342"/>
                    <a:pt x="38889" y="14287"/>
                    <a:pt x="38889" y="19444"/>
                  </a:cubicBezTo>
                  <a:lnTo>
                    <a:pt x="38889" y="145875"/>
                  </a:lnTo>
                  <a:cubicBezTo>
                    <a:pt x="38889" y="156614"/>
                    <a:pt x="30183" y="165320"/>
                    <a:pt x="19444" y="165320"/>
                  </a:cubicBezTo>
                  <a:lnTo>
                    <a:pt x="19444" y="165320"/>
                  </a:lnTo>
                  <a:cubicBezTo>
                    <a:pt x="8706" y="165320"/>
                    <a:pt x="0" y="156614"/>
                    <a:pt x="0" y="145875"/>
                  </a:cubicBezTo>
                  <a:lnTo>
                    <a:pt x="0" y="19444"/>
                  </a:lnTo>
                  <a:cubicBezTo>
                    <a:pt x="0" y="8706"/>
                    <a:pt x="8706" y="0"/>
                    <a:pt x="19444" y="0"/>
                  </a:cubicBezTo>
                  <a:close/>
                </a:path>
              </a:pathLst>
            </a:custGeom>
            <a:solidFill>
              <a:srgbClr val="B4E1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38889" cy="26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99326" y="8783971"/>
            <a:ext cx="16689348" cy="815308"/>
            <a:chOff x="0" y="0"/>
            <a:chExt cx="4395548" cy="21473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395548" cy="214731"/>
            </a:xfrm>
            <a:custGeom>
              <a:avLst/>
              <a:gdLst/>
              <a:ahLst/>
              <a:cxnLst/>
              <a:rect l="l" t="t" r="r" b="b"/>
              <a:pathLst>
                <a:path w="4395548" h="214731">
                  <a:moveTo>
                    <a:pt x="13917" y="0"/>
                  </a:moveTo>
                  <a:lnTo>
                    <a:pt x="4381632" y="0"/>
                  </a:lnTo>
                  <a:cubicBezTo>
                    <a:pt x="4389318" y="0"/>
                    <a:pt x="4395548" y="6231"/>
                    <a:pt x="4395548" y="13917"/>
                  </a:cubicBezTo>
                  <a:lnTo>
                    <a:pt x="4395548" y="200815"/>
                  </a:lnTo>
                  <a:cubicBezTo>
                    <a:pt x="4395548" y="204506"/>
                    <a:pt x="4394082" y="208045"/>
                    <a:pt x="4391472" y="210655"/>
                  </a:cubicBezTo>
                  <a:cubicBezTo>
                    <a:pt x="4388862" y="213265"/>
                    <a:pt x="4385323" y="214731"/>
                    <a:pt x="4381632" y="214731"/>
                  </a:cubicBezTo>
                  <a:lnTo>
                    <a:pt x="13917" y="214731"/>
                  </a:lnTo>
                  <a:cubicBezTo>
                    <a:pt x="10226" y="214731"/>
                    <a:pt x="6686" y="213265"/>
                    <a:pt x="4076" y="210655"/>
                  </a:cubicBezTo>
                  <a:cubicBezTo>
                    <a:pt x="1466" y="208045"/>
                    <a:pt x="0" y="204506"/>
                    <a:pt x="0" y="200815"/>
                  </a:cubicBezTo>
                  <a:lnTo>
                    <a:pt x="0" y="13917"/>
                  </a:lnTo>
                  <a:cubicBezTo>
                    <a:pt x="0" y="10226"/>
                    <a:pt x="1466" y="6686"/>
                    <a:pt x="4076" y="4076"/>
                  </a:cubicBezTo>
                  <a:cubicBezTo>
                    <a:pt x="6686" y="1466"/>
                    <a:pt x="10226" y="0"/>
                    <a:pt x="13917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395548" cy="252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8700" y="8960184"/>
            <a:ext cx="462882" cy="462882"/>
            <a:chOff x="0" y="0"/>
            <a:chExt cx="673100" cy="673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796418" y="8960184"/>
            <a:ext cx="462882" cy="462882"/>
            <a:chOff x="0" y="0"/>
            <a:chExt cx="673100" cy="673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461629" y="8939422"/>
            <a:ext cx="15364742" cy="36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42"/>
              </a:lnSpc>
            </a:pPr>
            <a:r>
              <a:rPr lang="en-US" sz="2322" b="1" spc="-83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3411200" y="7270487"/>
            <a:ext cx="2437000" cy="787252"/>
            <a:chOff x="0" y="0"/>
            <a:chExt cx="641844" cy="20734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41844" cy="207342"/>
            </a:xfrm>
            <a:custGeom>
              <a:avLst/>
              <a:gdLst/>
              <a:ahLst/>
              <a:cxnLst/>
              <a:rect l="l" t="t" r="r" b="b"/>
              <a:pathLst>
                <a:path w="641844" h="207342">
                  <a:moveTo>
                    <a:pt x="95305" y="0"/>
                  </a:moveTo>
                  <a:lnTo>
                    <a:pt x="546539" y="0"/>
                  </a:lnTo>
                  <a:cubicBezTo>
                    <a:pt x="571815" y="0"/>
                    <a:pt x="596056" y="10041"/>
                    <a:pt x="613929" y="27914"/>
                  </a:cubicBezTo>
                  <a:cubicBezTo>
                    <a:pt x="631803" y="45787"/>
                    <a:pt x="641844" y="70028"/>
                    <a:pt x="641844" y="95305"/>
                  </a:cubicBezTo>
                  <a:lnTo>
                    <a:pt x="641844" y="112037"/>
                  </a:lnTo>
                  <a:cubicBezTo>
                    <a:pt x="641844" y="164673"/>
                    <a:pt x="599174" y="207342"/>
                    <a:pt x="546539" y="207342"/>
                  </a:cubicBezTo>
                  <a:lnTo>
                    <a:pt x="95305" y="207342"/>
                  </a:lnTo>
                  <a:cubicBezTo>
                    <a:pt x="42669" y="207342"/>
                    <a:pt x="0" y="164673"/>
                    <a:pt x="0" y="112037"/>
                  </a:cubicBezTo>
                  <a:lnTo>
                    <a:pt x="0" y="95305"/>
                  </a:lnTo>
                  <a:cubicBezTo>
                    <a:pt x="0" y="42669"/>
                    <a:pt x="42669" y="0"/>
                    <a:pt x="95305" y="0"/>
                  </a:cubicBezTo>
                  <a:close/>
                </a:path>
              </a:pathLst>
            </a:custGeom>
            <a:solidFill>
              <a:srgbClr val="B4E1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641844" cy="235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92"/>
                </a:lnSpc>
              </a:pPr>
              <a:r>
                <a:rPr lang="en-US" sz="1780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VIEW REPO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78045" y="515204"/>
            <a:ext cx="14978234" cy="112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20"/>
              </a:lnSpc>
            </a:pPr>
            <a:r>
              <a:rPr lang="en-US" sz="6600" b="1" spc="-67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Learnings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6DBD70-1946-880F-6132-60F8DCC0E245}"/>
              </a:ext>
            </a:extLst>
          </p:cNvPr>
          <p:cNvSpPr txBox="1"/>
          <p:nvPr/>
        </p:nvSpPr>
        <p:spPr>
          <a:xfrm>
            <a:off x="1154114" y="1632569"/>
            <a:ext cx="11824157" cy="6324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latin typeface="Calibri"/>
              </a:defRPr>
            </a:pPr>
            <a:r>
              <a:rPr lang="en-US" sz="3600" dirty="0"/>
              <a:t>Learnings</a:t>
            </a: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ü"/>
              <a:defRPr sz="1800" b="0">
                <a:latin typeface="Calibri"/>
              </a:defRPr>
            </a:pPr>
            <a:r>
              <a:rPr lang="en-US" sz="2800" dirty="0"/>
              <a:t>Configured the development environment using </a:t>
            </a:r>
            <a:r>
              <a:rPr lang="en-US" sz="2800" b="1" dirty="0"/>
              <a:t>Git, Python, Java, Node.js, Claude Desktop, and Cursor</a:t>
            </a:r>
            <a:r>
              <a:rPr lang="en-US" sz="2800" dirty="0"/>
              <a:t>. </a:t>
            </a: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ü"/>
              <a:defRPr sz="1800" b="0">
                <a:latin typeface="Calibri"/>
              </a:defRPr>
            </a:pPr>
            <a:r>
              <a:rPr lang="en-US" sz="2800" dirty="0"/>
              <a:t>Developed a </a:t>
            </a:r>
            <a:r>
              <a:rPr lang="en-US" sz="2800" b="1" dirty="0"/>
              <a:t>custom AI skill</a:t>
            </a:r>
            <a:r>
              <a:rPr lang="en-US" sz="2800" dirty="0"/>
              <a:t> for document quality checking.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  <a:defRPr sz="1800" b="0">
                <a:latin typeface="Calibri"/>
              </a:defRPr>
            </a:pPr>
            <a:r>
              <a:rPr lang="en-US" sz="2800" dirty="0"/>
              <a:t>Built and configured a </a:t>
            </a:r>
            <a:r>
              <a:rPr lang="en-US" sz="2800" b="1" dirty="0"/>
              <a:t>custom MCP (Model Context Protocol) server</a:t>
            </a:r>
            <a:r>
              <a:rPr lang="en-US" sz="2800" dirty="0"/>
              <a:t>.</a:t>
            </a: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ü"/>
              <a:defRPr sz="1800" b="0">
                <a:latin typeface="Calibri"/>
              </a:defRPr>
            </a:pPr>
            <a:r>
              <a:rPr lang="en-US" sz="2800" dirty="0"/>
              <a:t> Integrated the MCP server with an </a:t>
            </a:r>
            <a:r>
              <a:rPr lang="en-US" sz="2800" b="1" dirty="0"/>
              <a:t>AI assistant</a:t>
            </a:r>
            <a:r>
              <a:rPr lang="en-US" sz="2800" dirty="0"/>
              <a:t> to automate documentation review. </a:t>
            </a: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ü"/>
              <a:defRPr sz="1800" b="0">
                <a:latin typeface="Calibri"/>
              </a:defRPr>
            </a:pPr>
            <a:r>
              <a:rPr lang="en-US" sz="2800" dirty="0"/>
              <a:t>Gained hands-on experience in </a:t>
            </a:r>
            <a:r>
              <a:rPr lang="en-US" sz="2800" b="1" dirty="0"/>
              <a:t>prompt engineering, tool integration, debugging, and end-to-end workflow development</a:t>
            </a:r>
            <a:r>
              <a:rPr lang="en-US" sz="2800" dirty="0"/>
              <a:t>. </a:t>
            </a:r>
          </a:p>
          <a:p>
            <a:pPr algn="l">
              <a:spcAft>
                <a:spcPts val="600"/>
              </a:spcAft>
              <a:defRPr sz="1800" b="1">
                <a:latin typeface="Calibri"/>
              </a:defRPr>
            </a:pPr>
            <a:r>
              <a:rPr lang="en-US" sz="3600" dirty="0"/>
              <a:t>Key Outcome</a:t>
            </a:r>
          </a:p>
          <a:p>
            <a:pPr algn="l">
              <a:spcAft>
                <a:spcPts val="600"/>
              </a:spcAft>
              <a:defRPr sz="1800" b="0">
                <a:latin typeface="Calibri"/>
              </a:defRPr>
            </a:pPr>
            <a:r>
              <a:rPr lang="en-US" sz="2800" dirty="0"/>
              <a:t>Automated review that improves documentation quality and reduces review time.</a:t>
            </a:r>
            <a:br>
              <a:rPr lang="en-US" sz="1800" dirty="0"/>
            </a:b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184</Words>
  <Application>Microsoft Office PowerPoint</Application>
  <PresentationFormat>Custom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Wingdings</vt:lpstr>
      <vt:lpstr>Calibri</vt:lpstr>
      <vt:lpstr>Montserrat</vt:lpstr>
      <vt:lpstr>Montserrat Bold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Workshop Overview</dc:title>
  <dc:creator>Banu</dc:creator>
  <cp:lastModifiedBy>Banu A</cp:lastModifiedBy>
  <cp:revision>10</cp:revision>
  <dcterms:created xsi:type="dcterms:W3CDTF">2006-08-16T00:00:00Z</dcterms:created>
  <dcterms:modified xsi:type="dcterms:W3CDTF">2026-08-08T02:02:45Z</dcterms:modified>
  <dc:identifier>DAHRndzjEJU</dc:identifier>
</cp:coreProperties>
</file>